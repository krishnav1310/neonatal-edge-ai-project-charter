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Play"/>
      <p:regular r:id="rId9"/>
      <p:bold r:id="rId10"/>
    </p:embeddedFont>
    <p:embeddedFont>
      <p:font typeface="Quattrocento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35F339-E469-4ACB-981F-6B6993DD14FE}">
  <a:tblStyle styleId="{8135F339-E469-4ACB-981F-6B6993DD14F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13BBBEE-19F5-4058-8EFE-C4FA09089AE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regular.fntdata"/><Relationship Id="rId10" Type="http://schemas.openxmlformats.org/officeDocument/2006/relationships/font" Target="fonts/Play-bold.fntdata"/><Relationship Id="rId13" Type="http://schemas.openxmlformats.org/officeDocument/2006/relationships/font" Target="fonts/QuattrocentoSans-italic.fntdata"/><Relationship Id="rId12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Play-regular.fntdata"/><Relationship Id="rId14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32147" y="668887"/>
            <a:ext cx="3242255" cy="227752"/>
          </a:xfrm>
          <a:prstGeom prst="leftRightArrow">
            <a:avLst>
              <a:gd fmla="val 100000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Situation / Problem statement / Key-facts</a:t>
            </a:r>
            <a:endParaRPr/>
          </a:p>
        </p:txBody>
      </p:sp>
      <p:cxnSp>
        <p:nvCxnSpPr>
          <p:cNvPr id="85" name="Google Shape;85;p13"/>
          <p:cNvCxnSpPr/>
          <p:nvPr/>
        </p:nvCxnSpPr>
        <p:spPr>
          <a:xfrm flipH="1" rot="10800000">
            <a:off x="532147" y="932920"/>
            <a:ext cx="2976000" cy="9448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" name="Google Shape;86;p13"/>
          <p:cNvSpPr/>
          <p:nvPr/>
        </p:nvSpPr>
        <p:spPr>
          <a:xfrm>
            <a:off x="523499" y="1007685"/>
            <a:ext cx="3080401" cy="3043579"/>
          </a:xfrm>
          <a:prstGeom prst="rect">
            <a:avLst/>
          </a:prstGeom>
          <a:solidFill>
            <a:srgbClr val="C5C5C5">
              <a:alpha val="90196"/>
            </a:srgbClr>
          </a:solidFill>
          <a:ln>
            <a:noFill/>
          </a:ln>
        </p:spPr>
        <p:txBody>
          <a:bodyPr anchorCtr="0" anchor="t" bIns="45700" lIns="48000" spcFirstLastPara="1" rIns="48000" wrap="square" tIns="45700">
            <a:noAutofit/>
          </a:bodyPr>
          <a:lstStyle/>
          <a:p>
            <a:pPr indent="-230191" lvl="0" marL="230191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Newborns in incubators are highly vulnerable to sudden changes in vital signs, yet current monitoring largely depends on periodic manual checks and threshold-based alarms.</a:t>
            </a:r>
            <a:endParaRPr/>
          </a:p>
          <a:p>
            <a:pPr indent="-230191" lvl="0" marL="230191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Manual, periodic checks can delay detection of abnormal vitals</a:t>
            </a:r>
            <a:endParaRPr/>
          </a:p>
          <a:p>
            <a:pPr indent="-230191" lvl="0" marL="230191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Static threshold alarms react only after a parameter crosses a fixed limit, by which point deterioration may already be underway</a:t>
            </a:r>
            <a:endParaRPr/>
          </a:p>
          <a:p>
            <a:pPr indent="-230191" lvl="0" marL="230191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This increases the cognitive and physical load on NICU staff managing multiple infants</a:t>
            </a:r>
            <a:endParaRPr/>
          </a:p>
          <a:p>
            <a:pPr indent="-230191" lvl="1" marL="687391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There is a clear need for an intelligent, continuous, predictive monitoring solution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691705" y="648069"/>
            <a:ext cx="2976000" cy="288000"/>
          </a:xfrm>
          <a:prstGeom prst="leftRightArrow">
            <a:avLst>
              <a:gd fmla="val 100000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Objectives &amp; Expected Result</a:t>
            </a:r>
            <a:endParaRPr/>
          </a:p>
        </p:txBody>
      </p:sp>
      <p:cxnSp>
        <p:nvCxnSpPr>
          <p:cNvPr id="88" name="Google Shape;88;p13"/>
          <p:cNvCxnSpPr/>
          <p:nvPr/>
        </p:nvCxnSpPr>
        <p:spPr>
          <a:xfrm flipH="1" rot="10800000">
            <a:off x="3691705" y="926622"/>
            <a:ext cx="2976000" cy="9448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9" name="Google Shape;89;p13"/>
          <p:cNvSpPr/>
          <p:nvPr/>
        </p:nvSpPr>
        <p:spPr>
          <a:xfrm>
            <a:off x="3683059" y="1007686"/>
            <a:ext cx="2976000" cy="3035081"/>
          </a:xfrm>
          <a:prstGeom prst="rect">
            <a:avLst/>
          </a:prstGeom>
          <a:solidFill>
            <a:srgbClr val="C5C5C5">
              <a:alpha val="90196"/>
            </a:srgbClr>
          </a:solidFill>
          <a:ln>
            <a:noFill/>
          </a:ln>
        </p:spPr>
        <p:txBody>
          <a:bodyPr anchorCtr="0" anchor="t" bIns="45700" lIns="48000" spcFirstLastPara="1" rIns="48000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Build a predictive monitoring system (NAVAAYU) that continuously analyzes a neonate's vital signs to anticipate health deterioration before it becomes critical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Surface real-time, data-backed insights for doctors and medical staff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Enable earlier detection of abnormalities and reduce missed critical events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Improve staff response time and reduce NICU monitoring burden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Ultimately improve neonatal safety and overall care quality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967979" y="597269"/>
            <a:ext cx="4375640" cy="288000"/>
          </a:xfrm>
          <a:prstGeom prst="leftRightArrow">
            <a:avLst>
              <a:gd fmla="val 100000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Deliverables or milestone activities</a:t>
            </a:r>
            <a:endParaRPr/>
          </a:p>
        </p:txBody>
      </p:sp>
      <p:cxnSp>
        <p:nvCxnSpPr>
          <p:cNvPr id="91" name="Google Shape;91;p13"/>
          <p:cNvCxnSpPr/>
          <p:nvPr/>
        </p:nvCxnSpPr>
        <p:spPr>
          <a:xfrm>
            <a:off x="6967979" y="926623"/>
            <a:ext cx="4375640" cy="3151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2" name="Google Shape;92;p13"/>
          <p:cNvSpPr/>
          <p:nvPr/>
        </p:nvSpPr>
        <p:spPr>
          <a:xfrm>
            <a:off x="523500" y="4114752"/>
            <a:ext cx="6144205" cy="288000"/>
          </a:xfrm>
          <a:prstGeom prst="leftRightArrow">
            <a:avLst>
              <a:gd fmla="val 100000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Pre-condition &amp; Support needed</a:t>
            </a:r>
            <a:endParaRPr/>
          </a:p>
        </p:txBody>
      </p:sp>
      <p:cxnSp>
        <p:nvCxnSpPr>
          <p:cNvPr id="93" name="Google Shape;93;p13"/>
          <p:cNvCxnSpPr/>
          <p:nvPr/>
        </p:nvCxnSpPr>
        <p:spPr>
          <a:xfrm flipH="1" rot="10800000">
            <a:off x="523500" y="4387563"/>
            <a:ext cx="6144205" cy="13732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" name="Google Shape;94;p13"/>
          <p:cNvSpPr/>
          <p:nvPr/>
        </p:nvSpPr>
        <p:spPr>
          <a:xfrm>
            <a:off x="532150" y="4474749"/>
            <a:ext cx="6126900" cy="2286000"/>
          </a:xfrm>
          <a:prstGeom prst="rect">
            <a:avLst/>
          </a:prstGeom>
          <a:solidFill>
            <a:srgbClr val="C5C5C5">
              <a:alpha val="90196"/>
            </a:srgbClr>
          </a:solidFill>
          <a:ln>
            <a:noFill/>
          </a:ln>
        </p:spPr>
        <p:txBody>
          <a:bodyPr anchorCtr="0" anchor="t" bIns="45700" lIns="48000" spcFirstLastPara="1" rIns="480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Key Support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Clinical mentorship from hospital medical staff, hospital IT/infra support for edge integration, and access to incubator hardware for testing</a:t>
            </a:r>
            <a:endParaRPr b="1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Pre-condition</a:t>
            </a:r>
            <a:endParaRPr b="1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Edge AI deployment capability on incubator hardware for real-time, on-device inference</a:t>
            </a:r>
            <a:endParaRPr b="0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Federated learning setup to train the model across hospital sites without centralizing patient data</a:t>
            </a:r>
            <a:endParaRPr/>
          </a:p>
          <a:p>
            <a:pPr indent="-171450" lvl="0" marL="171450" marR="0" rtl="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Hospital partnership for real-world data access, model validation, and regulatory/ethical clearance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6983931" y="4094982"/>
            <a:ext cx="4359688" cy="288000"/>
          </a:xfrm>
          <a:prstGeom prst="leftRightArrow">
            <a:avLst>
              <a:gd fmla="val 100000" name="adj1"/>
              <a:gd fmla="val 0" name="adj2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Project team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6983931" y="4373536"/>
            <a:ext cx="4359688" cy="9448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97" name="Google Shape;97;p13"/>
          <p:cNvGraphicFramePr/>
          <p:nvPr/>
        </p:nvGraphicFramePr>
        <p:xfrm>
          <a:off x="6964267" y="4743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{8135F339-E469-4ACB-981F-6B6993DD14FE}</a:tableStyleId>
              </a:tblPr>
              <a:tblGrid>
                <a:gridCol w="1504100"/>
                <a:gridCol w="3228900"/>
              </a:tblGrid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Steering</a:t>
                      </a:r>
                      <a:endParaRPr/>
                    </a:p>
                  </a:txBody>
                  <a:tcPr marT="60950" marB="60950" marR="60950" marL="609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Project team</a:t>
                      </a:r>
                      <a:endParaRPr/>
                    </a:p>
                  </a:txBody>
                  <a:tcPr marT="60950" marB="60950" marR="60950" marL="60950">
                    <a:solidFill>
                      <a:srgbClr val="002060"/>
                    </a:solidFill>
                  </a:tcPr>
                </a:tc>
              </a:tr>
              <a:tr h="934725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/>
                        <a:t>TBD</a:t>
                      </a:r>
                      <a:endParaRPr sz="1100"/>
                    </a:p>
                    <a:p>
                      <a:pPr indent="-1016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/>
                        <a:t>Asawari Pawar – ML Engineer</a:t>
                      </a:r>
                      <a:endParaRPr sz="1100"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/>
                        <a:t>Tanvee Darwatkar – Developer</a:t>
                      </a:r>
                      <a:endParaRPr sz="1100"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Char char="•"/>
                      </a:pPr>
                      <a:r>
                        <a:rPr lang="en-US" sz="1100"/>
                        <a:t>Deepti Patra – Project Manager</a:t>
                      </a:r>
                      <a:endParaRPr/>
                    </a:p>
                  </a:txBody>
                  <a:tcPr marT="60950" marB="60950" marR="60950" marL="60950">
                    <a:solidFill>
                      <a:srgbClr val="C5C5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13"/>
          <p:cNvGraphicFramePr/>
          <p:nvPr/>
        </p:nvGraphicFramePr>
        <p:xfrm>
          <a:off x="6964267" y="44421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{8135F339-E469-4ACB-981F-6B6993DD14FE}</a:tableStyleId>
              </a:tblPr>
              <a:tblGrid>
                <a:gridCol w="974525"/>
                <a:gridCol w="1207875"/>
                <a:gridCol w="1193950"/>
                <a:gridCol w="1253625"/>
              </a:tblGrid>
              <a:tr h="28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Sponsor</a:t>
                      </a:r>
                      <a:endParaRPr/>
                    </a:p>
                  </a:txBody>
                  <a:tcPr marT="60950" marB="60950" marR="121925" marL="121925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TBD</a:t>
                      </a:r>
                      <a:endParaRPr b="1" sz="11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60950" marL="60950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Project lead</a:t>
                      </a:r>
                      <a:endParaRPr/>
                    </a:p>
                  </a:txBody>
                  <a:tcPr marT="60950" marB="60950" marR="60950" marL="60950">
                    <a:solidFill>
                      <a:srgbClr val="27531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Krishna Vaghela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60950" marB="60950" marR="60950" marL="60950">
                    <a:solidFill>
                      <a:srgbClr val="C5C5C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13"/>
          <p:cNvGraphicFramePr/>
          <p:nvPr/>
        </p:nvGraphicFramePr>
        <p:xfrm>
          <a:off x="6842617" y="9093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{8135F339-E469-4ACB-981F-6B6993DD14FE}</a:tableStyleId>
              </a:tblPr>
              <a:tblGrid>
                <a:gridCol w="3482575"/>
                <a:gridCol w="1555275"/>
              </a:tblGrid>
              <a:tr h="27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</a:rPr>
                        <a:t>Deliverables/ Milestones</a:t>
                      </a:r>
                      <a:endParaRPr/>
                    </a:p>
                  </a:txBody>
                  <a:tcPr marT="60950" marB="60950" marR="121925" marL="121925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Date</a:t>
                      </a:r>
                      <a:endParaRPr/>
                    </a:p>
                  </a:txBody>
                  <a:tcPr marT="60950" marB="60950" marR="121925" marL="121925">
                    <a:solidFill>
                      <a:srgbClr val="002060"/>
                    </a:solidFill>
                  </a:tcPr>
                </a:tc>
              </a:tr>
              <a:tr h="26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charter finalization</a:t>
                      </a:r>
                      <a:endParaRPr sz="10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22 July 2026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92D050"/>
                    </a:solidFill>
                  </a:tcPr>
                </a:tc>
              </a:tr>
              <a:tr h="40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Prototype development (hardware + sensors)</a:t>
                      </a:r>
                      <a:endParaRPr sz="10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23 July 2026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92D050"/>
                    </a:solidFill>
                  </a:tcPr>
                </a:tc>
              </a:tr>
              <a:tr h="40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2060"/>
                          </a:solidFill>
                        </a:rPr>
                        <a:t>ML model development for vitals prediction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26 July 2026</a:t>
                      </a:r>
                      <a:endParaRPr sz="6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92D050"/>
                    </a:solidFill>
                  </a:tcPr>
                </a:tc>
              </a:tr>
              <a:tr h="67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002060"/>
                          </a:solidFill>
                        </a:rPr>
                        <a:t>Pilot testing (single incubator/unit)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26–29 July 2026</a:t>
                      </a:r>
                      <a:endParaRPr sz="8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92D050"/>
                    </a:solidFill>
                  </a:tcPr>
                </a:tc>
              </a:tr>
              <a:tr h="40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 system integration &amp; validation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26–29 July 2026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FFFF00"/>
                    </a:solidFill>
                  </a:tcPr>
                </a:tc>
              </a:tr>
              <a:tr h="26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2060"/>
                          </a:solidFill>
                        </a:rPr>
                        <a:t>Deployment of prototype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29 July 2026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FFFF00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rgbClr val="002060"/>
                          </a:solidFill>
                        </a:rPr>
                        <a:t>Deployment across NICU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Future</a:t>
                      </a:r>
                      <a:endParaRPr sz="1000">
                        <a:solidFill>
                          <a:srgbClr val="002060"/>
                        </a:solidFill>
                      </a:endParaRPr>
                    </a:p>
                  </a:txBody>
                  <a:tcPr marT="60950" marB="60950" marR="121925" marL="121925"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3"/>
          <p:cNvSpPr txBox="1"/>
          <p:nvPr/>
        </p:nvSpPr>
        <p:spPr>
          <a:xfrm>
            <a:off x="6769871" y="6327925"/>
            <a:ext cx="624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Meeting Frequency: Core Team- every 2–3 weeks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82222" y="90311"/>
            <a:ext cx="43349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Charter - </a:t>
            </a:r>
            <a:r>
              <a:rPr b="1" lang="en-US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NAVAAYU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14"/>
          <p:cNvGraphicFramePr/>
          <p:nvPr/>
        </p:nvGraphicFramePr>
        <p:xfrm>
          <a:off x="1591123" y="34678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4415075"/>
              </a:tblGrid>
              <a:tr h="21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strike="noStrike">
                          <a:solidFill>
                            <a:schemeClr val="lt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Milestones – Critical path (Gantt Chart)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</a:tr>
              <a:tr h="197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800" u="none" strike="noStrike">
                        <a:solidFill>
                          <a:schemeClr val="lt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4"/>
          <p:cNvSpPr txBox="1"/>
          <p:nvPr/>
        </p:nvSpPr>
        <p:spPr>
          <a:xfrm>
            <a:off x="1615393" y="970225"/>
            <a:ext cx="4265923" cy="345219"/>
          </a:xfrm>
          <a:prstGeom prst="rect">
            <a:avLst/>
          </a:prstGeom>
          <a:noFill/>
          <a:ln cap="flat" cmpd="sng" w="9525">
            <a:solidFill>
              <a:srgbClr val="0F4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NAVAAYU</a:t>
            </a:r>
            <a:endParaRPr/>
          </a:p>
        </p:txBody>
      </p:sp>
      <p:graphicFrame>
        <p:nvGraphicFramePr>
          <p:cNvPr id="108" name="Google Shape;108;p14"/>
          <p:cNvGraphicFramePr/>
          <p:nvPr/>
        </p:nvGraphicFramePr>
        <p:xfrm>
          <a:off x="6139633" y="4955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1450775"/>
                <a:gridCol w="800100"/>
                <a:gridCol w="1892300"/>
              </a:tblGrid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Decisions</a:t>
                      </a:r>
                      <a:endParaRPr/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Made/Required</a:t>
                      </a:r>
                      <a:endParaRPr/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/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</a:tr>
              <a:tr h="18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14"/>
          <p:cNvSpPr/>
          <p:nvPr/>
        </p:nvSpPr>
        <p:spPr>
          <a:xfrm>
            <a:off x="5992931" y="970225"/>
            <a:ext cx="1471292" cy="345219"/>
          </a:xfrm>
          <a:prstGeom prst="rect">
            <a:avLst/>
          </a:prstGeom>
          <a:noFill/>
          <a:ln cap="flat" cmpd="sng" w="9525">
            <a:solidFill>
              <a:srgbClr val="0F4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4C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048575" y="1009819"/>
            <a:ext cx="1415648" cy="241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Lead: Krishna Vaghela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Date: 22 July 2026</a:t>
            </a:r>
            <a:endParaRPr/>
          </a:p>
        </p:txBody>
      </p:sp>
      <p:graphicFrame>
        <p:nvGraphicFramePr>
          <p:cNvPr id="111" name="Google Shape;111;p14"/>
          <p:cNvGraphicFramePr/>
          <p:nvPr/>
        </p:nvGraphicFramePr>
        <p:xfrm>
          <a:off x="6139633" y="2908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3491850"/>
                <a:gridCol w="651325"/>
              </a:tblGrid>
              <a:tr h="18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-US" sz="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Key 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</a:rPr>
                        <a:t>Issues</a:t>
                      </a:r>
                      <a:endParaRPr/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</a:txBody>
                  <a:tcPr marT="4800" marB="4800" marR="4800" marL="4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8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Hospital data access</a:t>
                      </a:r>
                      <a:endParaRPr b="0" i="0" sz="8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24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Informed</a:t>
                      </a:r>
                      <a:endParaRPr/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8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/>
                        <a:t>Hardware reliability</a:t>
                      </a:r>
                      <a:endParaRPr/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24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Informed</a:t>
                      </a:r>
                      <a:endParaRPr b="0" i="0" sz="800" u="none" strike="noStrike">
                        <a:solidFill>
                          <a:srgbClr val="24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8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/>
                        <a:t>Model accuracy</a:t>
                      </a:r>
                      <a:endParaRPr sz="800"/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24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Informed</a:t>
                      </a:r>
                      <a:endParaRPr b="0" i="0" sz="800" u="none" strike="noStrike">
                        <a:solidFill>
                          <a:srgbClr val="24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Google Shape;112;p14"/>
          <p:cNvGraphicFramePr/>
          <p:nvPr/>
        </p:nvGraphicFramePr>
        <p:xfrm>
          <a:off x="1609824" y="14304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4377550"/>
              </a:tblGrid>
              <a:tr h="25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Achievements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</a:tr>
              <a:tr h="1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Consulted doctors/hospital staff for technical &amp; medical insight</a:t>
                      </a:r>
                      <a:endParaRPr sz="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Basic frontend developed</a:t>
                      </a:r>
                      <a:endParaRPr sz="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ML model development in progress</a:t>
                      </a:r>
                      <a:endParaRPr sz="800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" name="Google Shape;113;p14"/>
          <p:cNvGraphicFramePr/>
          <p:nvPr/>
        </p:nvGraphicFramePr>
        <p:xfrm>
          <a:off x="6125674" y="1432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3580075"/>
                <a:gridCol w="878875"/>
              </a:tblGrid>
              <a:tr h="25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Next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Steps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</a:t>
                      </a:r>
                      <a:endParaRPr/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</a:tr>
              <a:tr h="22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</a:rPr>
                        <a:t>Complete ML model for vitals prediction</a:t>
                      </a:r>
                      <a:endParaRPr sz="800">
                        <a:solidFill>
                          <a:srgbClr val="002060"/>
                        </a:solidFill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Asawari Pawar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</a:rPr>
                        <a:t>Integrate alert system</a:t>
                      </a:r>
                      <a:endParaRPr sz="800">
                        <a:solidFill>
                          <a:srgbClr val="002060"/>
                        </a:solidFill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Tanvee Darwatkar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002060"/>
                          </a:solidFill>
                        </a:rPr>
                        <a:t>Pilot testing on incubator</a:t>
                      </a:r>
                      <a:endParaRPr sz="800">
                        <a:solidFill>
                          <a:srgbClr val="002060"/>
                        </a:solidFill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>
                          <a:solidFill>
                            <a:srgbClr val="002060"/>
                          </a:solidFill>
                        </a:rPr>
                        <a:t>Deepti Patra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" name="Google Shape;114;p14"/>
          <p:cNvGraphicFramePr/>
          <p:nvPr/>
        </p:nvGraphicFramePr>
        <p:xfrm>
          <a:off x="7519866" y="963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428900"/>
                <a:gridCol w="527925"/>
                <a:gridCol w="556225"/>
                <a:gridCol w="439400"/>
                <a:gridCol w="407050"/>
                <a:gridCol w="567650"/>
                <a:gridCol w="702975"/>
              </a:tblGrid>
              <a:tr h="17667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Status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Schedule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Resources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Scope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Timing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Deployment</a:t>
                      </a:r>
                      <a:endParaRPr b="1" i="1" sz="700" u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700" u="none" strike="noStrike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Effectiveness</a:t>
                      </a:r>
                      <a:endParaRPr b="1" i="1" sz="700" u="none" strike="noStrike">
                        <a:solidFill>
                          <a:srgbClr val="000000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21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Defined</a:t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Allocated</a:t>
                      </a:r>
                      <a:r>
                        <a:rPr b="0" i="0" lang="en-US" sz="7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 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Defined</a:t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Defined</a:t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  Planned</a:t>
                      </a:r>
                      <a:endParaRPr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KPIs</a:t>
                      </a:r>
                      <a:r>
                        <a:rPr b="0" i="0" lang="en-US" sz="600" u="none" strike="noStrike">
                          <a:solidFill>
                            <a:schemeClr val="dk1"/>
                          </a:solidFill>
                          <a:latin typeface="Play"/>
                          <a:ea typeface="Play"/>
                          <a:cs typeface="Play"/>
                          <a:sym typeface="Play"/>
                        </a:rPr>
                        <a:t> to be finalised</a:t>
                      </a:r>
                      <a:endParaRPr b="0" i="0" sz="600" u="none" strike="noStrike">
                        <a:solidFill>
                          <a:schemeClr val="dk1"/>
                        </a:solidFill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6A6A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115" name="Google Shape;115;p14"/>
          <p:cNvGrpSpPr/>
          <p:nvPr/>
        </p:nvGrpSpPr>
        <p:grpSpPr>
          <a:xfrm>
            <a:off x="6327095" y="5750762"/>
            <a:ext cx="3339244" cy="259607"/>
            <a:chOff x="4602215" y="4846085"/>
            <a:chExt cx="3339244" cy="297414"/>
          </a:xfrm>
        </p:grpSpPr>
        <p:sp>
          <p:nvSpPr>
            <p:cNvPr id="116" name="Google Shape;116;p14"/>
            <p:cNvSpPr/>
            <p:nvPr/>
          </p:nvSpPr>
          <p:spPr>
            <a:xfrm>
              <a:off x="5444990" y="4853711"/>
              <a:ext cx="168913" cy="142672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5627419" y="4857401"/>
              <a:ext cx="542081" cy="188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On-track</a:t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6265841" y="4865776"/>
              <a:ext cx="168913" cy="1426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6491162" y="4849268"/>
              <a:ext cx="722170" cy="294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Risks but actions taken</a:t>
              </a:r>
              <a:endParaRPr/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7213332" y="4846085"/>
              <a:ext cx="168913" cy="1426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7422994" y="4849269"/>
              <a:ext cx="518465" cy="188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Off-track</a:t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4602215" y="4853711"/>
              <a:ext cx="168913" cy="14267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4867927" y="4846085"/>
              <a:ext cx="500180" cy="14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4803391" y="4855109"/>
              <a:ext cx="685307" cy="195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 started</a:t>
              </a:r>
              <a:endParaRPr/>
            </a:p>
          </p:txBody>
        </p:sp>
      </p:grpSp>
      <p:graphicFrame>
        <p:nvGraphicFramePr>
          <p:cNvPr id="125" name="Google Shape;125;p14"/>
          <p:cNvGraphicFramePr/>
          <p:nvPr/>
        </p:nvGraphicFramePr>
        <p:xfrm>
          <a:off x="6147583" y="3954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2705625"/>
                <a:gridCol w="486175"/>
              </a:tblGrid>
              <a:tr h="17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-US" sz="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Key 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</a:rPr>
                        <a:t>Prototype Hardware</a:t>
                      </a:r>
                      <a:endParaRPr/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</a:rPr>
                        <a:t>Cost</a:t>
                      </a:r>
                      <a:endParaRPr b="1" sz="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00" marB="4800" marR="4800" marL="48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</a:tr>
              <a:tr h="20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Rasberry PI 5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42626"/>
                          </a:solidFill>
                        </a:rPr>
                        <a:t>9000</a:t>
                      </a:r>
                      <a:endParaRPr b="0" i="0" sz="800" u="none" strike="noStrike">
                        <a:solidFill>
                          <a:srgbClr val="24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Micro SD Card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rgbClr val="242626"/>
                          </a:solidFill>
                        </a:rPr>
                        <a:t>1000</a:t>
                      </a:r>
                      <a:endParaRPr b="0" i="0" sz="800" u="none" strike="noStrike">
                        <a:solidFill>
                          <a:srgbClr val="24262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Rasberry   Pi adapter</a:t>
                      </a:r>
                      <a:endParaRPr sz="800"/>
                    </a:p>
                  </a:txBody>
                  <a:tcPr marT="4800" marB="4800" marR="4800" marL="4800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/>
                        <a:t>1000</a:t>
                      </a:r>
                      <a:endParaRPr sz="800"/>
                    </a:p>
                  </a:txBody>
                  <a:tcPr marT="13150" marB="0" marR="13150" marL="1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14"/>
          <p:cNvGraphicFramePr/>
          <p:nvPr/>
        </p:nvGraphicFramePr>
        <p:xfrm>
          <a:off x="1673755" y="3708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{8135F339-E469-4ACB-981F-6B6993DD14FE}</a:tableStyleId>
              </a:tblPr>
              <a:tblGrid>
                <a:gridCol w="1232450"/>
                <a:gridCol w="300000"/>
                <a:gridCol w="314700"/>
                <a:gridCol w="307225"/>
                <a:gridCol w="276375"/>
                <a:gridCol w="274700"/>
                <a:gridCol w="292225"/>
                <a:gridCol w="274700"/>
                <a:gridCol w="274700"/>
                <a:gridCol w="729500"/>
              </a:tblGrid>
              <a:tr h="26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>
                          <a:solidFill>
                            <a:srgbClr val="000000"/>
                          </a:solidFill>
                        </a:rPr>
                        <a:t>Milestone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22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23 Jul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sng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24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25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26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27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28 Jul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sng">
                          <a:solidFill>
                            <a:srgbClr val="000000"/>
                          </a:solidFill>
                        </a:rPr>
                        <a:t>29 Jul</a:t>
                      </a:r>
                      <a:endParaRPr sz="600" u="sng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C0E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sng">
                          <a:solidFill>
                            <a:srgbClr val="000000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/>
                        <a:t>Project charter finalization</a:t>
                      </a:r>
                      <a:endParaRPr sz="7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</a:tr>
              <a:tr h="24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/>
                        <a:t>Prototype development</a:t>
                      </a:r>
                      <a:endParaRPr sz="7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ML model development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Pilot testing &amp; alert integration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29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Deployment of prototype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14"/>
          <p:cNvGraphicFramePr/>
          <p:nvPr/>
        </p:nvGraphicFramePr>
        <p:xfrm>
          <a:off x="1618189" y="5706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{013BBBEE-19F5-4058-8EFE-C4FA09089AE7}</a:tableStyleId>
              </a:tblPr>
              <a:tblGrid>
                <a:gridCol w="911725"/>
                <a:gridCol w="1476675"/>
                <a:gridCol w="2007900"/>
              </a:tblGrid>
              <a:tr h="2132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Help</a:t>
                      </a:r>
                      <a:r>
                        <a:rPr b="1" lang="en-US" sz="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needed</a:t>
                      </a:r>
                      <a:endParaRPr b="1" sz="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500" marB="13500" marR="1350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761"/>
                    </a:solidFill>
                  </a:tcPr>
                </a:tc>
                <a:tc hMerge="1"/>
                <a:tc hMerge="1"/>
              </a:tr>
              <a:tr h="18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Baseline: &lt;if available&gt;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YTD: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5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Baseline: 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YTD: </a:t>
                      </a:r>
                      <a:endParaRPr/>
                    </a:p>
                  </a:txBody>
                  <a:tcPr marT="7150" marB="0" marR="7150" marL="36000" anchor="ctr">
                    <a:lnL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D2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4"/>
          <p:cNvSpPr/>
          <p:nvPr/>
        </p:nvSpPr>
        <p:spPr>
          <a:xfrm>
            <a:off x="3349073" y="4337050"/>
            <a:ext cx="171900" cy="115800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4104492" y="5189360"/>
            <a:ext cx="1002000" cy="174600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336651" y="4034050"/>
            <a:ext cx="69900" cy="165900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561549" y="4565325"/>
            <a:ext cx="537170" cy="154894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871909" y="4902759"/>
            <a:ext cx="1067690" cy="172162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3917245" y="4955994"/>
            <a:ext cx="977100" cy="165900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560650" y="4618005"/>
            <a:ext cx="539100" cy="170400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208571" y="5190891"/>
            <a:ext cx="578582" cy="171445"/>
          </a:xfrm>
          <a:prstGeom prst="rect">
            <a:avLst/>
          </a:prstGeom>
          <a:solidFill>
            <a:schemeClr val="dk1"/>
          </a:solidFill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282221" y="90311"/>
            <a:ext cx="60448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Progress Report - </a:t>
            </a:r>
            <a:r>
              <a:rPr b="1" lang="en-US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NAVAAYU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/>
        </p:nvSpPr>
        <p:spPr>
          <a:xfrm>
            <a:off x="282222" y="90311"/>
            <a:ext cx="75724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 Proposition (Motive for doing project)</a:t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38200" y="713232"/>
            <a:ext cx="9723120" cy="2031325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project will implement a predictive, AI-driven monitoring system for neonatal incubators, enabling </a:t>
            </a:r>
            <a:r>
              <a:rPr i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early detection of health deterioration before it becomes critical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expected outcome is faster clinical response and better-informed medical decisions, resulting in improved neonatal safety and reduced risk during the most vulnerable stage of life.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NAVAAYU: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Predicts abnormal vitals in real time using Edge AI + federated learning across incubators, enabling doctors to intervene earlier, improving neonatal safety and outcomes.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282225" y="3008375"/>
            <a:ext cx="5707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strong value proposition should ideally answer –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problem are we solving?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benefit will be delivered?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will success be measured?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does it matter to the business?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strong </a:t>
            </a:r>
            <a:r>
              <a:rPr b="1"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 Proposition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a Project Charter clearly articulates the business benefit, measurable impact, and strategic value the project delivers.</a:t>
            </a:r>
            <a:endParaRPr b="1"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6574536" y="3163824"/>
            <a:ext cx="46359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Reduction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Productivity Improvement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Experience Enhancement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Revenue Growth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Risk Mitigation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Improvement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Employee Experience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Agility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&amp; Analytics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 Transformation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